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60" r:id="rId5"/>
    <p:sldId id="264" r:id="rId6"/>
    <p:sldId id="265" r:id="rId7"/>
    <p:sldId id="273" r:id="rId8"/>
    <p:sldId id="261" r:id="rId9"/>
    <p:sldId id="262" r:id="rId10"/>
    <p:sldId id="263" r:id="rId11"/>
    <p:sldId id="266" r:id="rId12"/>
    <p:sldId id="267" r:id="rId13"/>
    <p:sldId id="268" r:id="rId14"/>
    <p:sldId id="269" r:id="rId15"/>
    <p:sldId id="270" r:id="rId16"/>
    <p:sldId id="271" r:id="rId17"/>
    <p:sldId id="272" r:id="rId18"/>
    <p:sldId id="259" r:id="rId19"/>
  </p:sldIdLst>
  <p:sldSz cx="12192000" cy="6858000"/>
  <p:notesSz cx="6858000" cy="9144000"/>
  <p:embeddedFontLst>
    <p:embeddedFont>
      <p:font typeface="Lato Black" panose="020F0502020204030203" pitchFamily="34" charset="0"/>
      <p:bold r:id="rId21"/>
      <p:boldItalic r:id="rId22"/>
    </p:embeddedFont>
    <p:embeddedFont>
      <p:font typeface="Libre Baskerville" panose="02000000000000000000" pitchFamily="2" charset="0"/>
      <p:regular r:id="rId23"/>
      <p:bold r:id="rId24"/>
      <p: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472904" y="3717986"/>
            <a:ext cx="7246189" cy="13233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40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HEALTHCARE ANALYSIS (</a:t>
            </a:r>
            <a:r>
              <a:rPr lang="en-IN" sz="40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Using</a:t>
            </a:r>
            <a:r>
              <a:rPr lang="en-IN" sz="40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t>
            </a:r>
            <a:r>
              <a:rPr lang="en-IN" sz="40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Power BI</a:t>
            </a:r>
            <a:r>
              <a:rPr lang="en-IN" sz="40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a:t>
            </a:r>
            <a:endParaRPr sz="40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 name="object 2">
            <a:extLst>
              <a:ext uri="{FF2B5EF4-FFF2-40B4-BE49-F238E27FC236}">
                <a16:creationId xmlns:a16="http://schemas.microsoft.com/office/drawing/2014/main" id="{520E3C5F-0355-B944-2939-AED30DAAB48A}"/>
              </a:ext>
            </a:extLst>
          </p:cNvPr>
          <p:cNvSpPr txBox="1"/>
          <p:nvPr/>
        </p:nvSpPr>
        <p:spPr>
          <a:xfrm>
            <a:off x="8349046" y="5552760"/>
            <a:ext cx="3842954" cy="1141338"/>
          </a:xfrm>
          <a:prstGeom prst="rect">
            <a:avLst/>
          </a:prstGeom>
        </p:spPr>
        <p:txBody>
          <a:bodyPr vert="horz" wrap="square" lIns="0" tIns="12700" rIns="0" bIns="0" rtlCol="0">
            <a:spAutoFit/>
          </a:bodyPr>
          <a:lstStyle/>
          <a:p>
            <a:pPr marL="12700">
              <a:spcBef>
                <a:spcPts val="100"/>
              </a:spcBef>
            </a:pPr>
            <a:r>
              <a:rPr lang="en-IN" b="1" dirty="0">
                <a:solidFill>
                  <a:srgbClr val="FF0000"/>
                </a:solidFill>
                <a:latin typeface="Calibri"/>
                <a:cs typeface="Calibri"/>
              </a:rPr>
              <a:t>Presented by : </a:t>
            </a:r>
            <a:r>
              <a:rPr lang="en-IN" b="1" dirty="0">
                <a:solidFill>
                  <a:schemeClr val="bg2">
                    <a:lumMod val="10000"/>
                  </a:schemeClr>
                </a:solidFill>
                <a:latin typeface="Calibri"/>
                <a:cs typeface="Calibri"/>
              </a:rPr>
              <a:t>Sourav Kumar Sahu</a:t>
            </a:r>
          </a:p>
          <a:p>
            <a:pPr marL="12700">
              <a:lnSpc>
                <a:spcPct val="100000"/>
              </a:lnSpc>
              <a:spcBef>
                <a:spcPts val="100"/>
              </a:spcBef>
            </a:pPr>
            <a:r>
              <a:rPr lang="en-IN" b="1" dirty="0">
                <a:solidFill>
                  <a:srgbClr val="FF0000"/>
                </a:solidFill>
                <a:latin typeface="Calibri"/>
                <a:cs typeface="Calibri"/>
              </a:rPr>
              <a:t>Batch No : </a:t>
            </a:r>
            <a:r>
              <a:rPr lang="en-IN" b="1" dirty="0">
                <a:solidFill>
                  <a:schemeClr val="bg2">
                    <a:lumMod val="10000"/>
                  </a:schemeClr>
                </a:solidFill>
                <a:latin typeface="Calibri"/>
                <a:cs typeface="Calibri"/>
              </a:rPr>
              <a:t>403</a:t>
            </a:r>
          </a:p>
          <a:p>
            <a:pPr marL="12700">
              <a:lnSpc>
                <a:spcPct val="100000"/>
              </a:lnSpc>
              <a:spcBef>
                <a:spcPts val="100"/>
              </a:spcBef>
            </a:pPr>
            <a:r>
              <a:rPr lang="en-IN" b="1" dirty="0">
                <a:latin typeface="Calibri"/>
                <a:cs typeface="Calibri"/>
              </a:rPr>
              <a:t>INNOMATICS RESEARCH LABS,</a:t>
            </a:r>
          </a:p>
          <a:p>
            <a:pPr marL="12700">
              <a:lnSpc>
                <a:spcPct val="100000"/>
              </a:lnSpc>
              <a:spcBef>
                <a:spcPts val="100"/>
              </a:spcBef>
            </a:pPr>
            <a:r>
              <a:rPr lang="en-IN" b="1" dirty="0">
                <a:latin typeface="Calibri"/>
                <a:cs typeface="Calibri"/>
              </a:rPr>
              <a:t>DILSUKHNAGAR, HYDERABAD</a:t>
            </a:r>
          </a:p>
          <a:p>
            <a:pPr marL="12700">
              <a:lnSpc>
                <a:spcPct val="100000"/>
              </a:lnSpc>
              <a:spcBef>
                <a:spcPts val="100"/>
              </a:spcBef>
            </a:pPr>
            <a:endParaRPr b="1"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3"/>
          <p:cNvSpPr txBox="1"/>
          <p:nvPr/>
        </p:nvSpPr>
        <p:spPr>
          <a:xfrm>
            <a:off x="594710" y="522062"/>
            <a:ext cx="6099463" cy="633979"/>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4400" b="1"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TABLE OF CONTENT</a:t>
            </a:r>
            <a:endParaRPr sz="44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
        <p:nvSpPr>
          <p:cNvPr id="2" name="Google Shape;111;p4">
            <a:extLst>
              <a:ext uri="{FF2B5EF4-FFF2-40B4-BE49-F238E27FC236}">
                <a16:creationId xmlns:a16="http://schemas.microsoft.com/office/drawing/2014/main" id="{BCD713C4-8EF2-82CF-9057-282999723432}"/>
              </a:ext>
            </a:extLst>
          </p:cNvPr>
          <p:cNvSpPr txBox="1">
            <a:spLocks/>
          </p:cNvSpPr>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31800">
              <a:lnSpc>
                <a:spcPct val="90000"/>
              </a:lnSpc>
              <a:spcBef>
                <a:spcPts val="1000"/>
              </a:spcBef>
              <a:buSzPts val="2400"/>
              <a:buFont typeface="Arial"/>
              <a:buChar char="•"/>
            </a:pPr>
            <a:r>
              <a:rPr lang="en-US" sz="2400" b="1" dirty="0"/>
              <a:t>Introduction</a:t>
            </a:r>
          </a:p>
          <a:p>
            <a:pPr marL="457200" indent="-431800">
              <a:lnSpc>
                <a:spcPct val="90000"/>
              </a:lnSpc>
              <a:spcBef>
                <a:spcPts val="1000"/>
              </a:spcBef>
              <a:buSzPts val="2400"/>
              <a:buFont typeface="Arial"/>
              <a:buChar char="•"/>
            </a:pPr>
            <a:r>
              <a:rPr lang="en-US" sz="2400" b="1" dirty="0"/>
              <a:t>Problem Statement</a:t>
            </a:r>
          </a:p>
          <a:p>
            <a:pPr marL="457200" indent="-431800">
              <a:lnSpc>
                <a:spcPct val="90000"/>
              </a:lnSpc>
              <a:spcBef>
                <a:spcPts val="1000"/>
              </a:spcBef>
              <a:buSzPts val="2400"/>
              <a:buFont typeface="Arial"/>
              <a:buChar char="•"/>
            </a:pPr>
            <a:r>
              <a:rPr lang="en-US" sz="2400" b="1" dirty="0"/>
              <a:t>Objective</a:t>
            </a:r>
          </a:p>
          <a:p>
            <a:pPr marL="457200" indent="-431800">
              <a:lnSpc>
                <a:spcPct val="90000"/>
              </a:lnSpc>
              <a:spcBef>
                <a:spcPts val="1000"/>
              </a:spcBef>
              <a:buSzPts val="2400"/>
              <a:buFont typeface="Arial"/>
              <a:buChar char="•"/>
            </a:pPr>
            <a:r>
              <a:rPr lang="en-US" sz="2400" b="1" dirty="0"/>
              <a:t>Tools and Approach</a:t>
            </a:r>
          </a:p>
          <a:p>
            <a:pPr marL="457200" indent="-431800">
              <a:lnSpc>
                <a:spcPct val="90000"/>
              </a:lnSpc>
              <a:spcBef>
                <a:spcPts val="1000"/>
              </a:spcBef>
              <a:buSzPts val="2400"/>
              <a:buFont typeface="Arial"/>
              <a:buChar char="•"/>
            </a:pPr>
            <a:r>
              <a:rPr lang="en-US" sz="2400" b="1" dirty="0"/>
              <a:t>Table Information</a:t>
            </a:r>
          </a:p>
          <a:p>
            <a:pPr marL="457200" indent="-431800">
              <a:lnSpc>
                <a:spcPct val="90000"/>
              </a:lnSpc>
              <a:spcBef>
                <a:spcPts val="1000"/>
              </a:spcBef>
              <a:buSzPts val="2400"/>
              <a:buFont typeface="Arial"/>
              <a:buChar char="•"/>
            </a:pPr>
            <a:r>
              <a:rPr lang="en-US" sz="2400" b="1" dirty="0"/>
              <a:t>Dashboard Overview</a:t>
            </a:r>
            <a:endParaRPr lang="en-US" sz="2400" dirty="0"/>
          </a:p>
          <a:p>
            <a:pPr marL="457200" indent="-431800">
              <a:lnSpc>
                <a:spcPct val="90000"/>
              </a:lnSpc>
              <a:spcBef>
                <a:spcPts val="1000"/>
              </a:spcBef>
              <a:buSzPts val="2400"/>
              <a:buFont typeface="Arial"/>
              <a:buChar char="•"/>
            </a:pPr>
            <a:r>
              <a:rPr lang="en-US" sz="2400" b="1" dirty="0"/>
              <a:t>Data Visualizations</a:t>
            </a:r>
          </a:p>
          <a:p>
            <a:pPr marL="457200" indent="-431800">
              <a:lnSpc>
                <a:spcPct val="90000"/>
              </a:lnSpc>
              <a:spcBef>
                <a:spcPts val="1000"/>
              </a:spcBef>
              <a:buSzPts val="2400"/>
              <a:buFont typeface="Arial"/>
              <a:buChar char="•"/>
            </a:pPr>
            <a:r>
              <a:rPr lang="en-US" sz="2400" b="1" dirty="0"/>
              <a:t>Conclusion </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759070" y="478301"/>
            <a:ext cx="10515600" cy="99634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latin typeface="Times New Roman" panose="02020603050405020304" pitchFamily="18" charset="0"/>
                <a:cs typeface="Times New Roman" panose="02020603050405020304" pitchFamily="18" charset="0"/>
              </a:rPr>
              <a:t>INTRODUCTION</a:t>
            </a:r>
            <a:endParaRPr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B6DA5DCF-D1CD-0C0A-5A06-2C576EAFD010}"/>
              </a:ext>
            </a:extLst>
          </p:cNvPr>
          <p:cNvSpPr>
            <a:spLocks noGrp="1" noChangeArrowheads="1"/>
          </p:cNvSpPr>
          <p:nvPr>
            <p:ph type="body" idx="1"/>
          </p:nvPr>
        </p:nvSpPr>
        <p:spPr bwMode="auto">
          <a:xfrm>
            <a:off x="838200" y="1725195"/>
            <a:ext cx="1003985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100000"/>
              </a:lnSpc>
              <a:spcBef>
                <a:spcPct val="0"/>
              </a:spcBef>
              <a:spcAft>
                <a:spcPct val="0"/>
              </a:spcAft>
              <a:buClrTx/>
              <a:buSzTx/>
            </a:pPr>
            <a:r>
              <a:rPr lang="en-US" dirty="0">
                <a:latin typeface="Times New Roman" panose="02020603050405020304" pitchFamily="18" charset="0"/>
                <a:cs typeface="Times New Roman" panose="02020603050405020304" pitchFamily="18" charset="0"/>
              </a:rPr>
              <a:t>Health care is a vital industry focused on improving, maintaining, and restoring the health of individuals through medical services, prevention programs, diagnostics, and treatment solutions.</a:t>
            </a:r>
          </a:p>
          <a:p>
            <a:pPr marL="285750" indent="-285750" eaLnBrk="0" fontAlgn="base" hangingPunct="0">
              <a:lnSpc>
                <a:spcPct val="100000"/>
              </a:lnSpc>
              <a:spcBef>
                <a:spcPct val="0"/>
              </a:spcBef>
              <a:spcAft>
                <a:spcPct val="0"/>
              </a:spcAft>
              <a:buClrTx/>
              <a:buSzTx/>
            </a:pPr>
            <a:r>
              <a:rPr lang="en-US" dirty="0">
                <a:latin typeface="Times New Roman" panose="02020603050405020304" pitchFamily="18" charset="0"/>
                <a:cs typeface="Times New Roman" panose="02020603050405020304" pitchFamily="18" charset="0"/>
              </a:rPr>
              <a:t> Worldwide, health care systems face growing challenges like workforce shortages, rising costs, and the need for increased capacity and innovation. </a:t>
            </a:r>
          </a:p>
          <a:p>
            <a:pPr marL="285750" indent="-285750" eaLnBrk="0" fontAlgn="base" hangingPunct="0">
              <a:lnSpc>
                <a:spcPct val="100000"/>
              </a:lnSpc>
              <a:spcBef>
                <a:spcPct val="0"/>
              </a:spcBef>
              <a:spcAft>
                <a:spcPct val="0"/>
              </a:spcAft>
              <a:buClrTx/>
              <a:buSzTx/>
            </a:pPr>
            <a:r>
              <a:rPr lang="en-US" dirty="0">
                <a:latin typeface="Times New Roman" panose="02020603050405020304" pitchFamily="18" charset="0"/>
                <a:cs typeface="Times New Roman" panose="02020603050405020304" pitchFamily="18" charset="0"/>
              </a:rPr>
              <a:t>Overall, health care remains a cornerstone of economic and social development, prioritizing accessible, efficient, and patient-centered care.</a:t>
            </a:r>
            <a:endParaRPr lang="en-US" alt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5DA53-CE62-DAF7-D5ED-C2EB9C10116E}"/>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PROBLEM STATEMENT</a:t>
            </a:r>
          </a:p>
        </p:txBody>
      </p:sp>
      <p:sp>
        <p:nvSpPr>
          <p:cNvPr id="3" name="Text Placeholder 2">
            <a:extLst>
              <a:ext uri="{FF2B5EF4-FFF2-40B4-BE49-F238E27FC236}">
                <a16:creationId xmlns:a16="http://schemas.microsoft.com/office/drawing/2014/main" id="{EB530389-BC5D-23BB-43E6-0DE5DE95E9E7}"/>
              </a:ext>
            </a:extLst>
          </p:cNvPr>
          <p:cNvSpPr>
            <a:spLocks noGrp="1"/>
          </p:cNvSpPr>
          <p:nvPr>
            <p:ph type="body" idx="1"/>
          </p:nvPr>
        </p:nvSpPr>
        <p:spPr/>
        <p:txBody>
          <a:bodyPr/>
          <a:lstStyle/>
          <a:p>
            <a:r>
              <a:rPr lang="en-US" b="1" dirty="0">
                <a:latin typeface="Times New Roman" panose="02020603050405020304" pitchFamily="18" charset="0"/>
                <a:cs typeface="Times New Roman" panose="02020603050405020304" pitchFamily="18" charset="0"/>
              </a:rPr>
              <a:t>Scattered Data:</a:t>
            </a:r>
            <a:r>
              <a:rPr lang="en-US" dirty="0">
                <a:latin typeface="Times New Roman" panose="02020603050405020304" pitchFamily="18" charset="0"/>
                <a:cs typeface="Times New Roman" panose="02020603050405020304" pitchFamily="18" charset="0"/>
              </a:rPr>
              <a:t> Information was spread across static spreadsheets, making analysis slow.</a:t>
            </a:r>
          </a:p>
          <a:p>
            <a:r>
              <a:rPr lang="en-US" b="1" dirty="0">
                <a:latin typeface="Times New Roman" panose="02020603050405020304" pitchFamily="18" charset="0"/>
                <a:cs typeface="Times New Roman" panose="02020603050405020304" pitchFamily="18" charset="0"/>
              </a:rPr>
              <a:t>Lack of Clear Insights:</a:t>
            </a:r>
            <a:r>
              <a:rPr lang="en-US" dirty="0">
                <a:latin typeface="Times New Roman" panose="02020603050405020304" pitchFamily="18" charset="0"/>
                <a:cs typeface="Times New Roman" panose="02020603050405020304" pitchFamily="18" charset="0"/>
              </a:rPr>
              <a:t> It was difficult to track hospital performance, revenue, and patient flow in one place.</a:t>
            </a:r>
          </a:p>
          <a:p>
            <a:r>
              <a:rPr lang="en-US" b="1" dirty="0">
                <a:latin typeface="Times New Roman" panose="02020603050405020304" pitchFamily="18" charset="0"/>
                <a:cs typeface="Times New Roman" panose="02020603050405020304" pitchFamily="18" charset="0"/>
              </a:rPr>
              <a:t>Delayed Decisions:</a:t>
            </a:r>
            <a:r>
              <a:rPr lang="en-US" dirty="0">
                <a:latin typeface="Times New Roman" panose="02020603050405020304" pitchFamily="18" charset="0"/>
                <a:cs typeface="Times New Roman" panose="02020603050405020304" pitchFamily="18" charset="0"/>
              </a:rPr>
              <a:t> Leadership could not get real-time data, making it hard to make fast, smart decisions.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410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FBA91-3906-B239-6DFE-680B16761C9C}"/>
              </a:ext>
            </a:extLst>
          </p:cNvPr>
          <p:cNvSpPr>
            <a:spLocks noGrp="1"/>
          </p:cNvSpPr>
          <p:nvPr>
            <p:ph type="title"/>
          </p:nvPr>
        </p:nvSpPr>
        <p:spPr/>
        <p:txBody>
          <a:bodyPr/>
          <a:lstStyle/>
          <a:p>
            <a:r>
              <a:rPr lang="en-IN" b="1" dirty="0">
                <a:solidFill>
                  <a:srgbClr val="FF0000"/>
                </a:solidFill>
              </a:rPr>
              <a:t>OBJECTIVE</a:t>
            </a:r>
          </a:p>
        </p:txBody>
      </p:sp>
      <p:sp>
        <p:nvSpPr>
          <p:cNvPr id="3" name="Text Placeholder 2">
            <a:extLst>
              <a:ext uri="{FF2B5EF4-FFF2-40B4-BE49-F238E27FC236}">
                <a16:creationId xmlns:a16="http://schemas.microsoft.com/office/drawing/2014/main" id="{69C63BB6-E0BA-00E8-92B5-C66D2A66BD18}"/>
              </a:ext>
            </a:extLst>
          </p:cNvPr>
          <p:cNvSpPr>
            <a:spLocks noGrp="1"/>
          </p:cNvSpPr>
          <p:nvPr>
            <p:ph type="body" idx="1"/>
          </p:nvPr>
        </p:nvSpPr>
        <p:spPr/>
        <p:txBody>
          <a:bodyPr/>
          <a:lstStyle/>
          <a:p>
            <a:r>
              <a:rPr lang="en-US" b="1" dirty="0"/>
              <a:t>Centralize Data:</a:t>
            </a:r>
            <a:r>
              <a:rPr lang="en-US" dirty="0"/>
              <a:t> To build a single, interactive dashboard in Power BI.</a:t>
            </a:r>
          </a:p>
          <a:p>
            <a:r>
              <a:rPr lang="en-US" b="1" dirty="0"/>
              <a:t>Track Key Metrics:</a:t>
            </a:r>
            <a:r>
              <a:rPr lang="en-US" dirty="0"/>
              <a:t> To monitor KPIs like Total Revenue, Patient Volume.</a:t>
            </a:r>
          </a:p>
          <a:p>
            <a:r>
              <a:rPr lang="en-US" b="1" dirty="0"/>
              <a:t>Identify Trends:</a:t>
            </a:r>
            <a:r>
              <a:rPr lang="en-US" dirty="0"/>
              <a:t> To find insights on admission patterns, high-revenue medical conditions, and operational efficiency, and Average Length of Stay.</a:t>
            </a:r>
            <a:endParaRPr lang="en-IN" dirty="0"/>
          </a:p>
        </p:txBody>
      </p:sp>
    </p:spTree>
    <p:extLst>
      <p:ext uri="{BB962C8B-B14F-4D97-AF65-F5344CB8AC3E}">
        <p14:creationId xmlns:p14="http://schemas.microsoft.com/office/powerpoint/2010/main" val="1485666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8B402-FB03-0881-C47D-5FF10E7C7003}"/>
              </a:ext>
            </a:extLst>
          </p:cNvPr>
          <p:cNvSpPr>
            <a:spLocks noGrp="1"/>
          </p:cNvSpPr>
          <p:nvPr>
            <p:ph type="title"/>
          </p:nvPr>
        </p:nvSpPr>
        <p:spPr/>
        <p:txBody>
          <a:bodyPr/>
          <a:lstStyle/>
          <a:p>
            <a:r>
              <a:rPr lang="en-IN" b="1" dirty="0">
                <a:solidFill>
                  <a:srgbClr val="FF0000"/>
                </a:solidFill>
              </a:rPr>
              <a:t>TOOLS AND APPROACH</a:t>
            </a:r>
          </a:p>
        </p:txBody>
      </p:sp>
      <p:sp>
        <p:nvSpPr>
          <p:cNvPr id="3" name="Text Placeholder 2">
            <a:extLst>
              <a:ext uri="{FF2B5EF4-FFF2-40B4-BE49-F238E27FC236}">
                <a16:creationId xmlns:a16="http://schemas.microsoft.com/office/drawing/2014/main" id="{4255B66F-2E2A-701F-10D3-A383C7CD1710}"/>
              </a:ext>
            </a:extLst>
          </p:cNvPr>
          <p:cNvSpPr>
            <a:spLocks noGrp="1"/>
          </p:cNvSpPr>
          <p:nvPr>
            <p:ph type="body" idx="1"/>
          </p:nvPr>
        </p:nvSpPr>
        <p:spPr/>
        <p:txBody>
          <a:bodyPr/>
          <a:lstStyle/>
          <a:p>
            <a:r>
              <a:rPr lang="en-IN" b="1" dirty="0">
                <a:latin typeface="Times New Roman" panose="02020603050405020304" pitchFamily="18" charset="0"/>
                <a:cs typeface="Times New Roman" panose="02020603050405020304" pitchFamily="18" charset="0"/>
              </a:rPr>
              <a:t>Tool : </a:t>
            </a:r>
            <a:r>
              <a:rPr lang="en-US" dirty="0">
                <a:latin typeface="Times New Roman" panose="02020603050405020304" pitchFamily="18" charset="0"/>
                <a:cs typeface="Times New Roman" panose="02020603050405020304" pitchFamily="18" charset="0"/>
              </a:rPr>
              <a:t>This entire project was built using </a:t>
            </a:r>
            <a:r>
              <a:rPr lang="en-US" b="1" dirty="0">
                <a:latin typeface="Times New Roman" panose="02020603050405020304" pitchFamily="18" charset="0"/>
                <a:cs typeface="Times New Roman" panose="02020603050405020304" pitchFamily="18" charset="0"/>
              </a:rPr>
              <a:t>Microsoft Power BI</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Process:</a:t>
            </a:r>
          </a:p>
          <a:p>
            <a:pPr marL="628650" indent="-514350">
              <a:buFont typeface="+mj-lt"/>
              <a:buAutoNum type="arabicPeriod"/>
            </a:pPr>
            <a:r>
              <a:rPr lang="en-US" b="1" dirty="0">
                <a:latin typeface="Times New Roman" panose="02020603050405020304" pitchFamily="18" charset="0"/>
                <a:cs typeface="Times New Roman" panose="02020603050405020304" pitchFamily="18" charset="0"/>
              </a:rPr>
              <a:t>Data Connection:</a:t>
            </a:r>
            <a:r>
              <a:rPr lang="en-US" dirty="0">
                <a:latin typeface="Times New Roman" panose="02020603050405020304" pitchFamily="18" charset="0"/>
                <a:cs typeface="Times New Roman" panose="02020603050405020304" pitchFamily="18" charset="0"/>
              </a:rPr>
              <a:t> Loaded the hospital's raw healthcare data.</a:t>
            </a:r>
          </a:p>
          <a:p>
            <a:pPr marL="628650" indent="-514350">
              <a:buFont typeface="+mj-lt"/>
              <a:buAutoNum type="arabicPeriod"/>
            </a:pPr>
            <a:r>
              <a:rPr lang="en-US" b="1" dirty="0">
                <a:latin typeface="Times New Roman" panose="02020603050405020304" pitchFamily="18" charset="0"/>
                <a:cs typeface="Times New Roman" panose="02020603050405020304" pitchFamily="18" charset="0"/>
              </a:rPr>
              <a:t>Data Modeling:</a:t>
            </a:r>
            <a:r>
              <a:rPr lang="en-US" dirty="0">
                <a:latin typeface="Times New Roman" panose="02020603050405020304" pitchFamily="18" charset="0"/>
                <a:cs typeface="Times New Roman" panose="02020603050405020304" pitchFamily="18" charset="0"/>
              </a:rPr>
              <a:t> Cleaned the data and created DAX measures to calculate KPIs like </a:t>
            </a:r>
            <a:r>
              <a:rPr lang="en-US" i="1" dirty="0">
                <a:latin typeface="Times New Roman" panose="02020603050405020304" pitchFamily="18" charset="0"/>
                <a:cs typeface="Times New Roman" panose="02020603050405020304" pitchFamily="18" charset="0"/>
              </a:rPr>
              <a:t>Total Revenue</a:t>
            </a:r>
            <a:r>
              <a:rPr lang="en-US" dirty="0">
                <a:latin typeface="Times New Roman" panose="02020603050405020304" pitchFamily="18" charset="0"/>
                <a:cs typeface="Times New Roman" panose="02020603050405020304" pitchFamily="18" charset="0"/>
              </a:rPr>
              <a:t> and </a:t>
            </a:r>
            <a:r>
              <a:rPr lang="en-US" i="1" dirty="0">
                <a:latin typeface="Times New Roman" panose="02020603050405020304" pitchFamily="18" charset="0"/>
                <a:cs typeface="Times New Roman" panose="02020603050405020304" pitchFamily="18" charset="0"/>
              </a:rPr>
              <a:t>Average Length of Stay</a:t>
            </a:r>
            <a:r>
              <a:rPr lang="en-US" dirty="0">
                <a:latin typeface="Times New Roman" panose="02020603050405020304" pitchFamily="18" charset="0"/>
                <a:cs typeface="Times New Roman" panose="02020603050405020304" pitchFamily="18" charset="0"/>
              </a:rPr>
              <a:t>.</a:t>
            </a:r>
          </a:p>
          <a:p>
            <a:pPr marL="628650" indent="-514350">
              <a:buFont typeface="+mj-lt"/>
              <a:buAutoNum type="arabicPeriod"/>
            </a:pPr>
            <a:r>
              <a:rPr lang="en-US" b="1" dirty="0">
                <a:latin typeface="Times New Roman" panose="02020603050405020304" pitchFamily="18" charset="0"/>
                <a:cs typeface="Times New Roman" panose="02020603050405020304" pitchFamily="18" charset="0"/>
              </a:rPr>
              <a:t>Visualization:</a:t>
            </a:r>
            <a:r>
              <a:rPr lang="en-US" dirty="0">
                <a:latin typeface="Times New Roman" panose="02020603050405020304" pitchFamily="18" charset="0"/>
                <a:cs typeface="Times New Roman" panose="02020603050405020304" pitchFamily="18" charset="0"/>
              </a:rPr>
              <a:t> Designed this interactive dashboard with simple filters for </a:t>
            </a:r>
            <a:r>
              <a:rPr lang="en-US" i="1" dirty="0">
                <a:latin typeface="Times New Roman" panose="02020603050405020304" pitchFamily="18" charset="0"/>
                <a:cs typeface="Times New Roman" panose="02020603050405020304" pitchFamily="18" charset="0"/>
              </a:rPr>
              <a:t>Year</a:t>
            </a:r>
            <a:r>
              <a:rPr lang="en-US" dirty="0">
                <a:latin typeface="Times New Roman" panose="02020603050405020304" pitchFamily="18" charset="0"/>
                <a:cs typeface="Times New Roman" panose="02020603050405020304" pitchFamily="18" charset="0"/>
              </a:rPr>
              <a:t> and </a:t>
            </a:r>
            <a:r>
              <a:rPr lang="en-US" i="1" dirty="0">
                <a:latin typeface="Times New Roman" panose="02020603050405020304" pitchFamily="18" charset="0"/>
                <a:cs typeface="Times New Roman" panose="02020603050405020304" pitchFamily="18" charset="0"/>
              </a:rPr>
              <a:t>Gender</a:t>
            </a:r>
            <a:r>
              <a:rPr lang="en-US"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5480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2A856-B267-7421-ED01-2E6551BBCD6A}"/>
              </a:ext>
            </a:extLst>
          </p:cNvPr>
          <p:cNvSpPr>
            <a:spLocks noGrp="1"/>
          </p:cNvSpPr>
          <p:nvPr>
            <p:ph type="title"/>
          </p:nvPr>
        </p:nvSpPr>
        <p:spPr>
          <a:xfrm>
            <a:off x="838200" y="365125"/>
            <a:ext cx="10515600" cy="900967"/>
          </a:xfrm>
        </p:spPr>
        <p:txBody>
          <a:bodyPr/>
          <a:lstStyle/>
          <a:p>
            <a:r>
              <a:rPr lang="en-IN" b="1" dirty="0">
                <a:solidFill>
                  <a:srgbClr val="FF0000"/>
                </a:solidFill>
              </a:rPr>
              <a:t>TABLE INFORMATION</a:t>
            </a:r>
          </a:p>
        </p:txBody>
      </p:sp>
      <p:sp>
        <p:nvSpPr>
          <p:cNvPr id="3" name="Text Placeholder 2">
            <a:extLst>
              <a:ext uri="{FF2B5EF4-FFF2-40B4-BE49-F238E27FC236}">
                <a16:creationId xmlns:a16="http://schemas.microsoft.com/office/drawing/2014/main" id="{1A0E060F-B206-E640-4C2E-E223968403A5}"/>
              </a:ext>
            </a:extLst>
          </p:cNvPr>
          <p:cNvSpPr>
            <a:spLocks noGrp="1"/>
          </p:cNvSpPr>
          <p:nvPr>
            <p:ph type="body" idx="1"/>
          </p:nvPr>
        </p:nvSpPr>
        <p:spPr>
          <a:xfrm>
            <a:off x="952500" y="1186961"/>
            <a:ext cx="10515600" cy="5811715"/>
          </a:xfrm>
        </p:spPr>
        <p:txBody>
          <a:bodyPr>
            <a:normAutofit fontScale="92500" lnSpcReduction="10000"/>
          </a:bodyPr>
          <a:lstStyle/>
          <a:p>
            <a:pPr marL="114300" indent="0">
              <a:buNone/>
            </a:pPr>
            <a:r>
              <a:rPr lang="en-US" b="1" dirty="0">
                <a:latin typeface="Times New Roman" panose="02020603050405020304" pitchFamily="18" charset="0"/>
                <a:cs typeface="Times New Roman" panose="02020603050405020304" pitchFamily="18" charset="0"/>
              </a:rPr>
              <a:t>Tables used : </a:t>
            </a:r>
            <a:r>
              <a:rPr lang="en-US" dirty="0">
                <a:latin typeface="Times New Roman" panose="02020603050405020304" pitchFamily="18" charset="0"/>
                <a:cs typeface="Times New Roman" panose="02020603050405020304" pitchFamily="18" charset="0"/>
              </a:rPr>
              <a:t>Single Table </a:t>
            </a:r>
          </a:p>
          <a:p>
            <a:pPr marL="114300" indent="0">
              <a:buNone/>
            </a:pPr>
            <a:r>
              <a:rPr lang="en-US" b="1" dirty="0">
                <a:latin typeface="Times New Roman" panose="02020603050405020304" pitchFamily="18" charset="0"/>
                <a:cs typeface="Times New Roman" panose="02020603050405020304" pitchFamily="18" charset="0"/>
              </a:rPr>
              <a:t>Columns Name and their data type:</a:t>
            </a:r>
          </a:p>
          <a:p>
            <a:r>
              <a:rPr lang="en-US" sz="1600" dirty="0">
                <a:latin typeface="Times New Roman" panose="02020603050405020304" pitchFamily="18" charset="0"/>
                <a:cs typeface="Times New Roman" panose="02020603050405020304" pitchFamily="18" charset="0"/>
              </a:rPr>
              <a:t>Patient name (text) </a:t>
            </a:r>
          </a:p>
          <a:p>
            <a:r>
              <a:rPr lang="en-US" sz="1600" dirty="0">
                <a:latin typeface="Times New Roman" panose="02020603050405020304" pitchFamily="18" charset="0"/>
                <a:cs typeface="Times New Roman" panose="02020603050405020304" pitchFamily="18" charset="0"/>
              </a:rPr>
              <a:t>Age (int) </a:t>
            </a:r>
          </a:p>
          <a:p>
            <a:r>
              <a:rPr lang="en-US" sz="1600" dirty="0">
                <a:latin typeface="Times New Roman" panose="02020603050405020304" pitchFamily="18" charset="0"/>
                <a:cs typeface="Times New Roman" panose="02020603050405020304" pitchFamily="18" charset="0"/>
              </a:rPr>
              <a:t>Gender (text)</a:t>
            </a:r>
          </a:p>
          <a:p>
            <a:r>
              <a:rPr lang="en-US" sz="1600" dirty="0">
                <a:latin typeface="Times New Roman" panose="02020603050405020304" pitchFamily="18" charset="0"/>
                <a:cs typeface="Times New Roman" panose="02020603050405020304" pitchFamily="18" charset="0"/>
              </a:rPr>
              <a:t>Blood Type (text)</a:t>
            </a:r>
          </a:p>
          <a:p>
            <a:r>
              <a:rPr lang="en-US" sz="1600" dirty="0">
                <a:latin typeface="Times New Roman" panose="02020603050405020304" pitchFamily="18" charset="0"/>
                <a:cs typeface="Times New Roman" panose="02020603050405020304" pitchFamily="18" charset="0"/>
              </a:rPr>
              <a:t>Medical Condition (text)</a:t>
            </a:r>
          </a:p>
          <a:p>
            <a:r>
              <a:rPr lang="en-US" sz="1600" dirty="0">
                <a:latin typeface="Times New Roman" panose="02020603050405020304" pitchFamily="18" charset="0"/>
                <a:cs typeface="Times New Roman" panose="02020603050405020304" pitchFamily="18" charset="0"/>
              </a:rPr>
              <a:t>Date of Admission (Date)</a:t>
            </a:r>
          </a:p>
          <a:p>
            <a:r>
              <a:rPr lang="en-US" sz="1600" dirty="0">
                <a:latin typeface="Times New Roman" panose="02020603050405020304" pitchFamily="18" charset="0"/>
                <a:cs typeface="Times New Roman" panose="02020603050405020304" pitchFamily="18" charset="0"/>
              </a:rPr>
              <a:t>Doctor (text)</a:t>
            </a:r>
          </a:p>
          <a:p>
            <a:r>
              <a:rPr lang="en-US" sz="1600" dirty="0">
                <a:latin typeface="Times New Roman" panose="02020603050405020304" pitchFamily="18" charset="0"/>
                <a:cs typeface="Times New Roman" panose="02020603050405020304" pitchFamily="18" charset="0"/>
              </a:rPr>
              <a:t>Hospital (text)</a:t>
            </a:r>
          </a:p>
          <a:p>
            <a:r>
              <a:rPr lang="en-US" sz="1600" dirty="0">
                <a:latin typeface="Times New Roman" panose="02020603050405020304" pitchFamily="18" charset="0"/>
                <a:cs typeface="Times New Roman" panose="02020603050405020304" pitchFamily="18" charset="0"/>
              </a:rPr>
              <a:t>Insurance Provider (text)</a:t>
            </a:r>
          </a:p>
          <a:p>
            <a:r>
              <a:rPr lang="en-US" sz="1600" dirty="0">
                <a:latin typeface="Times New Roman" panose="02020603050405020304" pitchFamily="18" charset="0"/>
                <a:cs typeface="Times New Roman" panose="02020603050405020304" pitchFamily="18" charset="0"/>
              </a:rPr>
              <a:t>Billing number (int)</a:t>
            </a:r>
          </a:p>
          <a:p>
            <a:r>
              <a:rPr lang="en-US" sz="1600" dirty="0">
                <a:latin typeface="Times New Roman" panose="02020603050405020304" pitchFamily="18" charset="0"/>
                <a:cs typeface="Times New Roman" panose="02020603050405020304" pitchFamily="18" charset="0"/>
              </a:rPr>
              <a:t>Room number (int)</a:t>
            </a:r>
          </a:p>
          <a:p>
            <a:r>
              <a:rPr lang="en-US" sz="1600" dirty="0">
                <a:latin typeface="Times New Roman" panose="02020603050405020304" pitchFamily="18" charset="0"/>
                <a:cs typeface="Times New Roman" panose="02020603050405020304" pitchFamily="18" charset="0"/>
              </a:rPr>
              <a:t>Admission Type (text)</a:t>
            </a:r>
          </a:p>
          <a:p>
            <a:r>
              <a:rPr lang="en-US" sz="1600" dirty="0">
                <a:latin typeface="Times New Roman" panose="02020603050405020304" pitchFamily="18" charset="0"/>
                <a:cs typeface="Times New Roman" panose="02020603050405020304" pitchFamily="18" charset="0"/>
              </a:rPr>
              <a:t>Discharge Date (Date)</a:t>
            </a:r>
          </a:p>
          <a:p>
            <a:r>
              <a:rPr lang="en-US" sz="1600" dirty="0">
                <a:latin typeface="Times New Roman" panose="02020603050405020304" pitchFamily="18" charset="0"/>
                <a:cs typeface="Times New Roman" panose="02020603050405020304" pitchFamily="18" charset="0"/>
              </a:rPr>
              <a:t>Medication (text)</a:t>
            </a:r>
          </a:p>
          <a:p>
            <a:r>
              <a:rPr lang="en-US" sz="1600" dirty="0">
                <a:latin typeface="Times New Roman" panose="02020603050405020304" pitchFamily="18" charset="0"/>
                <a:cs typeface="Times New Roman" panose="02020603050405020304" pitchFamily="18" charset="0"/>
              </a:rPr>
              <a:t>Test Results (text</a:t>
            </a:r>
            <a:endParaRPr lang="en-IN" sz="1600" dirty="0"/>
          </a:p>
          <a:p>
            <a:endParaRPr lang="en-US" sz="1600" dirty="0">
              <a:latin typeface="Times New Roman" panose="02020603050405020304" pitchFamily="18" charset="0"/>
              <a:cs typeface="Times New Roman" panose="02020603050405020304" pitchFamily="18" charset="0"/>
            </a:endParaRPr>
          </a:p>
          <a:p>
            <a:pPr marL="114300" indent="0">
              <a:buNone/>
            </a:pPr>
            <a:endParaRPr lang="en-US" dirty="0">
              <a:latin typeface="Times New Roman" panose="02020603050405020304" pitchFamily="18" charset="0"/>
              <a:cs typeface="Times New Roman" panose="02020603050405020304" pitchFamily="18" charset="0"/>
            </a:endParaRPr>
          </a:p>
          <a:p>
            <a:pPr marL="114300" indent="0">
              <a:buNone/>
            </a:pPr>
            <a:endParaRPr lang="en-IN"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354C82A4-42E9-58B9-74DF-BA1BA89C93CF}"/>
              </a:ext>
            </a:extLst>
          </p:cNvPr>
          <p:cNvPicPr>
            <a:picLocks noChangeAspect="1"/>
          </p:cNvPicPr>
          <p:nvPr/>
        </p:nvPicPr>
        <p:blipFill>
          <a:blip r:embed="rId2"/>
          <a:stretch>
            <a:fillRect/>
          </a:stretch>
        </p:blipFill>
        <p:spPr>
          <a:xfrm>
            <a:off x="3821649" y="2259908"/>
            <a:ext cx="8074344" cy="1702662"/>
          </a:xfrm>
          <a:prstGeom prst="rect">
            <a:avLst/>
          </a:prstGeom>
        </p:spPr>
      </p:pic>
      <p:pic>
        <p:nvPicPr>
          <p:cNvPr id="13" name="Picture 12">
            <a:extLst>
              <a:ext uri="{FF2B5EF4-FFF2-40B4-BE49-F238E27FC236}">
                <a16:creationId xmlns:a16="http://schemas.microsoft.com/office/drawing/2014/main" id="{DD76890A-D6B2-BAE4-440C-18CD96B7E841}"/>
              </a:ext>
            </a:extLst>
          </p:cNvPr>
          <p:cNvPicPr>
            <a:picLocks noChangeAspect="1"/>
          </p:cNvPicPr>
          <p:nvPr/>
        </p:nvPicPr>
        <p:blipFill>
          <a:blip r:embed="rId3"/>
          <a:stretch>
            <a:fillRect/>
          </a:stretch>
        </p:blipFill>
        <p:spPr>
          <a:xfrm>
            <a:off x="3987619" y="4228726"/>
            <a:ext cx="7908374" cy="1588736"/>
          </a:xfrm>
          <a:prstGeom prst="rect">
            <a:avLst/>
          </a:prstGeom>
        </p:spPr>
      </p:pic>
    </p:spTree>
    <p:extLst>
      <p:ext uri="{BB962C8B-B14F-4D97-AF65-F5344CB8AC3E}">
        <p14:creationId xmlns:p14="http://schemas.microsoft.com/office/powerpoint/2010/main" val="1799745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8E217-36BB-6C3E-8CAB-6E1011F712D8}"/>
              </a:ext>
            </a:extLst>
          </p:cNvPr>
          <p:cNvSpPr>
            <a:spLocks noGrp="1"/>
          </p:cNvSpPr>
          <p:nvPr>
            <p:ph type="title"/>
          </p:nvPr>
        </p:nvSpPr>
        <p:spPr>
          <a:xfrm>
            <a:off x="549469" y="536330"/>
            <a:ext cx="5685692" cy="591650"/>
          </a:xfrm>
        </p:spPr>
        <p:txBody>
          <a:bodyPr>
            <a:normAutofit/>
          </a:bodyPr>
          <a:lstStyle/>
          <a:p>
            <a:r>
              <a:rPr lang="en-IN" sz="3200" b="1" dirty="0">
                <a:solidFill>
                  <a:srgbClr val="FF0000"/>
                </a:solidFill>
                <a:latin typeface="Times New Roman" panose="02020603050405020304" pitchFamily="18" charset="0"/>
                <a:cs typeface="Times New Roman" panose="02020603050405020304" pitchFamily="18" charset="0"/>
              </a:rPr>
              <a:t>DASHBOARD OVERVIEW</a:t>
            </a:r>
          </a:p>
        </p:txBody>
      </p:sp>
      <p:pic>
        <p:nvPicPr>
          <p:cNvPr id="5" name="Picture 4">
            <a:extLst>
              <a:ext uri="{FF2B5EF4-FFF2-40B4-BE49-F238E27FC236}">
                <a16:creationId xmlns:a16="http://schemas.microsoft.com/office/drawing/2014/main" id="{54EB66F9-2B4E-E3E1-BABF-1347FE192325}"/>
              </a:ext>
            </a:extLst>
          </p:cNvPr>
          <p:cNvPicPr>
            <a:picLocks noChangeAspect="1"/>
          </p:cNvPicPr>
          <p:nvPr/>
        </p:nvPicPr>
        <p:blipFill>
          <a:blip r:embed="rId2"/>
          <a:stretch>
            <a:fillRect/>
          </a:stretch>
        </p:blipFill>
        <p:spPr>
          <a:xfrm>
            <a:off x="126639" y="1471512"/>
            <a:ext cx="4257062" cy="2479070"/>
          </a:xfrm>
          <a:prstGeom prst="rect">
            <a:avLst/>
          </a:prstGeom>
        </p:spPr>
      </p:pic>
      <p:pic>
        <p:nvPicPr>
          <p:cNvPr id="7" name="Picture 6">
            <a:extLst>
              <a:ext uri="{FF2B5EF4-FFF2-40B4-BE49-F238E27FC236}">
                <a16:creationId xmlns:a16="http://schemas.microsoft.com/office/drawing/2014/main" id="{4000E830-932B-37DD-D3BD-98F6DD57800D}"/>
              </a:ext>
            </a:extLst>
          </p:cNvPr>
          <p:cNvPicPr>
            <a:picLocks noChangeAspect="1"/>
          </p:cNvPicPr>
          <p:nvPr/>
        </p:nvPicPr>
        <p:blipFill>
          <a:blip r:embed="rId3"/>
          <a:stretch>
            <a:fillRect/>
          </a:stretch>
        </p:blipFill>
        <p:spPr>
          <a:xfrm>
            <a:off x="146221" y="4146953"/>
            <a:ext cx="4237480" cy="2479070"/>
          </a:xfrm>
          <a:prstGeom prst="rect">
            <a:avLst/>
          </a:prstGeom>
        </p:spPr>
      </p:pic>
      <p:pic>
        <p:nvPicPr>
          <p:cNvPr id="9" name="Picture 8">
            <a:extLst>
              <a:ext uri="{FF2B5EF4-FFF2-40B4-BE49-F238E27FC236}">
                <a16:creationId xmlns:a16="http://schemas.microsoft.com/office/drawing/2014/main" id="{8B92F659-8D85-410E-C5E8-0F90FE9B6751}"/>
              </a:ext>
            </a:extLst>
          </p:cNvPr>
          <p:cNvPicPr>
            <a:picLocks noChangeAspect="1"/>
          </p:cNvPicPr>
          <p:nvPr/>
        </p:nvPicPr>
        <p:blipFill>
          <a:blip r:embed="rId4"/>
          <a:stretch>
            <a:fillRect/>
          </a:stretch>
        </p:blipFill>
        <p:spPr>
          <a:xfrm>
            <a:off x="4489161" y="1471512"/>
            <a:ext cx="4251915" cy="2479070"/>
          </a:xfrm>
          <a:prstGeom prst="rect">
            <a:avLst/>
          </a:prstGeom>
        </p:spPr>
      </p:pic>
      <p:pic>
        <p:nvPicPr>
          <p:cNvPr id="11" name="Picture 10">
            <a:extLst>
              <a:ext uri="{FF2B5EF4-FFF2-40B4-BE49-F238E27FC236}">
                <a16:creationId xmlns:a16="http://schemas.microsoft.com/office/drawing/2014/main" id="{F9A0C645-5A1B-00AA-23CB-398A458071B9}"/>
              </a:ext>
            </a:extLst>
          </p:cNvPr>
          <p:cNvPicPr>
            <a:picLocks noChangeAspect="1"/>
          </p:cNvPicPr>
          <p:nvPr/>
        </p:nvPicPr>
        <p:blipFill>
          <a:blip r:embed="rId5"/>
          <a:stretch>
            <a:fillRect/>
          </a:stretch>
        </p:blipFill>
        <p:spPr>
          <a:xfrm>
            <a:off x="4504128" y="4146953"/>
            <a:ext cx="4252447" cy="2479070"/>
          </a:xfrm>
          <a:prstGeom prst="rect">
            <a:avLst/>
          </a:prstGeom>
        </p:spPr>
      </p:pic>
      <p:pic>
        <p:nvPicPr>
          <p:cNvPr id="15" name="Picture 14">
            <a:extLst>
              <a:ext uri="{FF2B5EF4-FFF2-40B4-BE49-F238E27FC236}">
                <a16:creationId xmlns:a16="http://schemas.microsoft.com/office/drawing/2014/main" id="{E50D1905-ACFD-D0AF-B49F-8AB22B8818A6}"/>
              </a:ext>
            </a:extLst>
          </p:cNvPr>
          <p:cNvPicPr>
            <a:picLocks noChangeAspect="1"/>
          </p:cNvPicPr>
          <p:nvPr/>
        </p:nvPicPr>
        <p:blipFill>
          <a:blip r:embed="rId6"/>
          <a:stretch>
            <a:fillRect/>
          </a:stretch>
        </p:blipFill>
        <p:spPr>
          <a:xfrm>
            <a:off x="8877002" y="1817073"/>
            <a:ext cx="3223853" cy="3223853"/>
          </a:xfrm>
          <a:prstGeom prst="rect">
            <a:avLst/>
          </a:prstGeom>
        </p:spPr>
      </p:pic>
    </p:spTree>
    <p:extLst>
      <p:ext uri="{BB962C8B-B14F-4D97-AF65-F5344CB8AC3E}">
        <p14:creationId xmlns:p14="http://schemas.microsoft.com/office/powerpoint/2010/main" val="155179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DA348-FF31-1651-645E-AA642C6C2729}"/>
              </a:ext>
            </a:extLst>
          </p:cNvPr>
          <p:cNvSpPr>
            <a:spLocks noGrp="1"/>
          </p:cNvSpPr>
          <p:nvPr>
            <p:ph type="title"/>
          </p:nvPr>
        </p:nvSpPr>
        <p:spPr/>
        <p:txBody>
          <a:bodyPr/>
          <a:lstStyle/>
          <a:p>
            <a:r>
              <a:rPr lang="en-IN" b="1" dirty="0">
                <a:solidFill>
                  <a:srgbClr val="FF0000"/>
                </a:solidFill>
              </a:rPr>
              <a:t>DATA VISUALIZATION</a:t>
            </a:r>
          </a:p>
        </p:txBody>
      </p:sp>
      <p:sp>
        <p:nvSpPr>
          <p:cNvPr id="3" name="Text Placeholder 2">
            <a:extLst>
              <a:ext uri="{FF2B5EF4-FFF2-40B4-BE49-F238E27FC236}">
                <a16:creationId xmlns:a16="http://schemas.microsoft.com/office/drawing/2014/main" id="{2E6E49FF-8790-FF38-2034-F4EBD5A5F63C}"/>
              </a:ext>
            </a:extLst>
          </p:cNvPr>
          <p:cNvSpPr>
            <a:spLocks noGrp="1"/>
          </p:cNvSpPr>
          <p:nvPr>
            <p:ph type="body" idx="1"/>
          </p:nvPr>
        </p:nvSpPr>
        <p:spPr>
          <a:xfrm>
            <a:off x="838200" y="3011121"/>
            <a:ext cx="10515600" cy="3481754"/>
          </a:xfrm>
        </p:spPr>
        <p:txBody>
          <a:bodyPr>
            <a:normAutofit lnSpcReduction="10000"/>
          </a:bodyPr>
          <a:lstStyle/>
          <a:p>
            <a:r>
              <a:rPr lang="en-US" dirty="0">
                <a:latin typeface="Times New Roman" panose="02020603050405020304" pitchFamily="18" charset="0"/>
                <a:cs typeface="Times New Roman" panose="02020603050405020304" pitchFamily="18" charset="0"/>
              </a:rPr>
              <a:t>This dashboard gives us an instant summary of hospital performance:</a:t>
            </a:r>
          </a:p>
          <a:p>
            <a:r>
              <a:rPr lang="en-US" b="1" dirty="0">
                <a:latin typeface="Times New Roman" panose="02020603050405020304" pitchFamily="18" charset="0"/>
                <a:cs typeface="Times New Roman" panose="02020603050405020304" pitchFamily="18" charset="0"/>
              </a:rPr>
              <a:t>Total Patients: </a:t>
            </a:r>
            <a:r>
              <a:rPr lang="en-US" dirty="0">
                <a:latin typeface="Times New Roman" panose="02020603050405020304" pitchFamily="18" charset="0"/>
                <a:cs typeface="Times New Roman" panose="02020603050405020304" pitchFamily="18" charset="0"/>
              </a:rPr>
              <a:t>We managed 56,000 patients.</a:t>
            </a:r>
          </a:p>
          <a:p>
            <a:r>
              <a:rPr lang="en-US" b="1" dirty="0">
                <a:latin typeface="Times New Roman" panose="02020603050405020304" pitchFamily="18" charset="0"/>
                <a:cs typeface="Times New Roman" panose="02020603050405020304" pitchFamily="18" charset="0"/>
              </a:rPr>
              <a:t>Total Revenue: </a:t>
            </a:r>
            <a:r>
              <a:rPr lang="en-US" dirty="0">
                <a:latin typeface="Times New Roman" panose="02020603050405020304" pitchFamily="18" charset="0"/>
                <a:cs typeface="Times New Roman" panose="02020603050405020304" pitchFamily="18" charset="0"/>
              </a:rPr>
              <a:t>We generated 1.42 Billion in revenue.</a:t>
            </a:r>
          </a:p>
          <a:p>
            <a:r>
              <a:rPr lang="en-US" b="1" dirty="0">
                <a:latin typeface="Times New Roman" panose="02020603050405020304" pitchFamily="18" charset="0"/>
                <a:cs typeface="Times New Roman" panose="02020603050405020304" pitchFamily="18" charset="0"/>
              </a:rPr>
              <a:t>Avg. Length of Stay (LOS): </a:t>
            </a:r>
            <a:r>
              <a:rPr lang="en-US" dirty="0">
                <a:latin typeface="Times New Roman" panose="02020603050405020304" pitchFamily="18" charset="0"/>
                <a:cs typeface="Times New Roman" panose="02020603050405020304" pitchFamily="18" charset="0"/>
              </a:rPr>
              <a:t>Patients stay 15.51 days on average.</a:t>
            </a:r>
          </a:p>
          <a:p>
            <a:r>
              <a:rPr lang="en-US" b="1" dirty="0">
                <a:latin typeface="Times New Roman" panose="02020603050405020304" pitchFamily="18" charset="0"/>
                <a:cs typeface="Times New Roman" panose="02020603050405020304" pitchFamily="18" charset="0"/>
              </a:rPr>
              <a:t>Total Length of Stay (LOS) : </a:t>
            </a:r>
            <a:r>
              <a:rPr lang="en-US" dirty="0">
                <a:latin typeface="Times New Roman" panose="02020603050405020304" pitchFamily="18" charset="0"/>
                <a:cs typeface="Times New Roman" panose="02020603050405020304" pitchFamily="18" charset="0"/>
              </a:rPr>
              <a:t>Patient stays for 861000 days in total.</a:t>
            </a:r>
          </a:p>
          <a:p>
            <a:r>
              <a:rPr lang="en-US" b="1" dirty="0">
                <a:latin typeface="Times New Roman" panose="02020603050405020304" pitchFamily="18" charset="0"/>
                <a:cs typeface="Times New Roman" panose="02020603050405020304" pitchFamily="18" charset="0"/>
              </a:rPr>
              <a:t>Total Doctors: </a:t>
            </a:r>
            <a:r>
              <a:rPr lang="en-US" dirty="0">
                <a:latin typeface="Times New Roman" panose="02020603050405020304" pitchFamily="18" charset="0"/>
                <a:cs typeface="Times New Roman" panose="02020603050405020304" pitchFamily="18" charset="0"/>
              </a:rPr>
              <a:t>We have 40,000 doctors in the system.</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11D5C65-2163-C19F-6689-0877C807D460}"/>
              </a:ext>
            </a:extLst>
          </p:cNvPr>
          <p:cNvPicPr>
            <a:picLocks noChangeAspect="1"/>
          </p:cNvPicPr>
          <p:nvPr/>
        </p:nvPicPr>
        <p:blipFill>
          <a:blip r:embed="rId2"/>
          <a:stretch>
            <a:fillRect/>
          </a:stretch>
        </p:blipFill>
        <p:spPr>
          <a:xfrm>
            <a:off x="1147822" y="1533436"/>
            <a:ext cx="9650172" cy="1276528"/>
          </a:xfrm>
          <a:prstGeom prst="rect">
            <a:avLst/>
          </a:prstGeom>
        </p:spPr>
      </p:pic>
    </p:spTree>
    <p:extLst>
      <p:ext uri="{BB962C8B-B14F-4D97-AF65-F5344CB8AC3E}">
        <p14:creationId xmlns:p14="http://schemas.microsoft.com/office/powerpoint/2010/main" val="2064317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08E07DA-86CE-0A95-5C66-2AE23B583E87}"/>
              </a:ext>
            </a:extLst>
          </p:cNvPr>
          <p:cNvSpPr>
            <a:spLocks noGrp="1"/>
          </p:cNvSpPr>
          <p:nvPr>
            <p:ph type="body" idx="1"/>
          </p:nvPr>
        </p:nvSpPr>
        <p:spPr>
          <a:xfrm>
            <a:off x="2198076" y="1104655"/>
            <a:ext cx="9568962" cy="4531213"/>
          </a:xfrm>
        </p:spPr>
        <p:txBody>
          <a:bodyPr>
            <a:normAutofit/>
          </a:bodyPr>
          <a:lstStyle/>
          <a:p>
            <a:r>
              <a:rPr lang="en-US" dirty="0"/>
              <a:t>The images provided show two Power BI Slicers, which are crucial interactive components that allow users to filter the entire dashboard instantly. Their interpretation focuses on interactivity and data segmentation.</a:t>
            </a:r>
          </a:p>
          <a:p>
            <a:r>
              <a:rPr lang="en-US" dirty="0"/>
              <a:t>These two slicers provide essential </a:t>
            </a:r>
            <a:r>
              <a:rPr lang="en-US" b="1" dirty="0"/>
              <a:t>segmentation controls</a:t>
            </a:r>
            <a:r>
              <a:rPr lang="en-US" dirty="0"/>
              <a:t> for the user.</a:t>
            </a:r>
          </a:p>
          <a:p>
            <a:r>
              <a:rPr lang="en-US" b="1" dirty="0"/>
              <a:t>Year Slicer : </a:t>
            </a:r>
            <a:r>
              <a:rPr lang="en-US" dirty="0"/>
              <a:t>Filters the entire dataset based on the date of the patient's record (e.g., Date of Admission).</a:t>
            </a:r>
          </a:p>
          <a:p>
            <a:r>
              <a:rPr lang="en-US" b="1" dirty="0"/>
              <a:t>Gender Slicer : </a:t>
            </a:r>
            <a:r>
              <a:rPr lang="en-US" dirty="0"/>
              <a:t>Filters the entire dataset based on the patient's demographic information.</a:t>
            </a:r>
            <a:endParaRPr lang="en-IN" dirty="0"/>
          </a:p>
        </p:txBody>
      </p:sp>
      <p:pic>
        <p:nvPicPr>
          <p:cNvPr id="5" name="Picture 4">
            <a:extLst>
              <a:ext uri="{FF2B5EF4-FFF2-40B4-BE49-F238E27FC236}">
                <a16:creationId xmlns:a16="http://schemas.microsoft.com/office/drawing/2014/main" id="{77F4C571-39E2-CD1D-3B39-102B4DD50EDC}"/>
              </a:ext>
            </a:extLst>
          </p:cNvPr>
          <p:cNvPicPr>
            <a:picLocks noChangeAspect="1"/>
          </p:cNvPicPr>
          <p:nvPr/>
        </p:nvPicPr>
        <p:blipFill>
          <a:blip r:embed="rId2"/>
          <a:stretch>
            <a:fillRect/>
          </a:stretch>
        </p:blipFill>
        <p:spPr>
          <a:xfrm>
            <a:off x="424962" y="1489032"/>
            <a:ext cx="1171739" cy="3248478"/>
          </a:xfrm>
          <a:prstGeom prst="rect">
            <a:avLst/>
          </a:prstGeom>
        </p:spPr>
      </p:pic>
    </p:spTree>
    <p:extLst>
      <p:ext uri="{BB962C8B-B14F-4D97-AF65-F5344CB8AC3E}">
        <p14:creationId xmlns:p14="http://schemas.microsoft.com/office/powerpoint/2010/main" val="2243097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4125D-33E1-DAE0-7089-A157F89D05BF}"/>
              </a:ext>
            </a:extLst>
          </p:cNvPr>
          <p:cNvSpPr>
            <a:spLocks noGrp="1"/>
          </p:cNvSpPr>
          <p:nvPr>
            <p:ph type="title"/>
          </p:nvPr>
        </p:nvSpPr>
        <p:spPr>
          <a:xfrm>
            <a:off x="372206" y="474785"/>
            <a:ext cx="10588869" cy="670780"/>
          </a:xfrm>
        </p:spPr>
        <p:txBody>
          <a:bodyPr>
            <a:normAutofit/>
          </a:bodyPr>
          <a:lstStyle/>
          <a:p>
            <a:r>
              <a:rPr lang="en-IN" sz="3400" b="1" dirty="0">
                <a:solidFill>
                  <a:srgbClr val="FF0000"/>
                </a:solidFill>
                <a:latin typeface="Times New Roman" panose="02020603050405020304" pitchFamily="18" charset="0"/>
                <a:cs typeface="Times New Roman" panose="02020603050405020304" pitchFamily="18" charset="0"/>
              </a:rPr>
              <a:t>Total number of patient admitted by month</a:t>
            </a:r>
          </a:p>
        </p:txBody>
      </p:sp>
      <p:sp>
        <p:nvSpPr>
          <p:cNvPr id="3" name="Text Placeholder 2">
            <a:extLst>
              <a:ext uri="{FF2B5EF4-FFF2-40B4-BE49-F238E27FC236}">
                <a16:creationId xmlns:a16="http://schemas.microsoft.com/office/drawing/2014/main" id="{52363C7A-2163-D802-3CA0-C38971CF5C14}"/>
              </a:ext>
            </a:extLst>
          </p:cNvPr>
          <p:cNvSpPr>
            <a:spLocks noGrp="1"/>
          </p:cNvSpPr>
          <p:nvPr>
            <p:ph type="body" idx="1"/>
          </p:nvPr>
        </p:nvSpPr>
        <p:spPr>
          <a:xfrm>
            <a:off x="372206" y="1456348"/>
            <a:ext cx="6151685" cy="4351338"/>
          </a:xfrm>
        </p:spPr>
        <p:txBody>
          <a:bodyPr>
            <a:normAutofit/>
          </a:bodyPr>
          <a:lstStyle/>
          <a:p>
            <a:pPr marL="114300" indent="0">
              <a:buNone/>
            </a:pPr>
            <a:r>
              <a:rPr lang="en-US" dirty="0">
                <a:latin typeface="Times New Roman" panose="02020603050405020304" pitchFamily="18" charset="0"/>
                <a:cs typeface="Times New Roman" panose="02020603050405020304" pitchFamily="18" charset="0"/>
              </a:rPr>
              <a:t>Monthly Admission Trends</a:t>
            </a:r>
          </a:p>
          <a:p>
            <a:r>
              <a:rPr lang="en-US" dirty="0">
                <a:latin typeface="Times New Roman" panose="02020603050405020304" pitchFamily="18" charset="0"/>
                <a:cs typeface="Times New Roman" panose="02020603050405020304" pitchFamily="18" charset="0"/>
              </a:rPr>
              <a:t>August and July see peak admissions, both above 4,800 cases.</a:t>
            </a:r>
          </a:p>
          <a:p>
            <a:r>
              <a:rPr lang="en-US" dirty="0">
                <a:latin typeface="Times New Roman" panose="02020603050405020304" pitchFamily="18" charset="0"/>
                <a:cs typeface="Times New Roman" panose="02020603050405020304" pitchFamily="18" charset="0"/>
              </a:rPr>
              <a:t>There is a steady decline in admissions from August to February, reaching a low of 4,255 in February.</a:t>
            </a:r>
          </a:p>
          <a:p>
            <a:r>
              <a:rPr lang="en-US" dirty="0">
                <a:latin typeface="Times New Roman" panose="02020603050405020304" pitchFamily="18" charset="0"/>
                <a:cs typeface="Times New Roman" panose="02020603050405020304" pitchFamily="18" charset="0"/>
              </a:rPr>
              <a:t>The trend highlights a potential seasonal or operational pattern in admissions.</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27023A3-E516-F8F4-5B41-AF1DD431A8DB}"/>
              </a:ext>
            </a:extLst>
          </p:cNvPr>
          <p:cNvPicPr>
            <a:picLocks noChangeAspect="1"/>
          </p:cNvPicPr>
          <p:nvPr/>
        </p:nvPicPr>
        <p:blipFill>
          <a:blip r:embed="rId2"/>
          <a:stretch>
            <a:fillRect/>
          </a:stretch>
        </p:blipFill>
        <p:spPr>
          <a:xfrm>
            <a:off x="6729046" y="2159732"/>
            <a:ext cx="5295678" cy="2724857"/>
          </a:xfrm>
          <a:prstGeom prst="rect">
            <a:avLst/>
          </a:prstGeom>
        </p:spPr>
      </p:pic>
    </p:spTree>
    <p:extLst>
      <p:ext uri="{BB962C8B-B14F-4D97-AF65-F5344CB8AC3E}">
        <p14:creationId xmlns:p14="http://schemas.microsoft.com/office/powerpoint/2010/main" val="20422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1C589-F72D-65BE-BBA6-29797C8F12D4}"/>
              </a:ext>
            </a:extLst>
          </p:cNvPr>
          <p:cNvSpPr>
            <a:spLocks noGrp="1"/>
          </p:cNvSpPr>
          <p:nvPr>
            <p:ph type="title"/>
          </p:nvPr>
        </p:nvSpPr>
        <p:spPr>
          <a:xfrm>
            <a:off x="603738" y="557945"/>
            <a:ext cx="10984523" cy="1009651"/>
          </a:xfrm>
        </p:spPr>
        <p:txBody>
          <a:bodyPr>
            <a:noAutofit/>
          </a:bodyPr>
          <a:lstStyle/>
          <a:p>
            <a:r>
              <a:rPr lang="en-US" sz="3400" dirty="0">
                <a:solidFill>
                  <a:srgbClr val="FF0000"/>
                </a:solidFill>
                <a:latin typeface="Times New Roman" panose="02020603050405020304" pitchFamily="18" charset="0"/>
                <a:cs typeface="Times New Roman" panose="02020603050405020304" pitchFamily="18" charset="0"/>
              </a:rPr>
              <a:t>What are the Top medical condition based on their admission type ? </a:t>
            </a:r>
            <a:endParaRPr lang="en-IN" sz="3400"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F6BAF6C-5C0A-67B4-43F6-806B5BC28921}"/>
              </a:ext>
            </a:extLst>
          </p:cNvPr>
          <p:cNvSpPr>
            <a:spLocks noGrp="1"/>
          </p:cNvSpPr>
          <p:nvPr>
            <p:ph type="body" idx="1"/>
          </p:nvPr>
        </p:nvSpPr>
        <p:spPr>
          <a:xfrm>
            <a:off x="5688622" y="1567596"/>
            <a:ext cx="6268916" cy="4351338"/>
          </a:xfrm>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Hypertension</a:t>
            </a:r>
            <a:r>
              <a:rPr lang="en-US" dirty="0">
                <a:latin typeface="Times New Roman" panose="02020603050405020304" pitchFamily="18" charset="0"/>
                <a:cs typeface="Times New Roman" panose="02020603050405020304" pitchFamily="18" charset="0"/>
              </a:rPr>
              <a:t> has the highest frequency overall, especially for Elective (1592) and Emergency (1613) cases, showing it’s a common condition treated in both planned and emergency situations.</a:t>
            </a:r>
          </a:p>
          <a:p>
            <a:r>
              <a:rPr lang="en-US" b="1" dirty="0">
                <a:latin typeface="Times New Roman" panose="02020603050405020304" pitchFamily="18" charset="0"/>
                <a:cs typeface="Times New Roman" panose="02020603050405020304" pitchFamily="18" charset="0"/>
              </a:rPr>
              <a:t>Asthma</a:t>
            </a:r>
            <a:r>
              <a:rPr lang="en-US" dirty="0">
                <a:latin typeface="Times New Roman" panose="02020603050405020304" pitchFamily="18" charset="0"/>
                <a:cs typeface="Times New Roman" panose="02020603050405020304" pitchFamily="18" charset="0"/>
              </a:rPr>
              <a:t> shows the lowest frequency for Urgent care (1461), indicating fewer urgent interventions compared to other conditions.</a:t>
            </a:r>
          </a:p>
          <a:p>
            <a:r>
              <a:rPr lang="en-US" b="1" dirty="0">
                <a:latin typeface="Times New Roman" panose="02020603050405020304" pitchFamily="18" charset="0"/>
                <a:cs typeface="Times New Roman" panose="02020603050405020304" pitchFamily="18" charset="0"/>
              </a:rPr>
              <a:t>Most Consistent Condition</a:t>
            </a:r>
            <a:r>
              <a:rPr lang="en-US" dirty="0">
                <a:latin typeface="Times New Roman" panose="02020603050405020304" pitchFamily="18" charset="0"/>
                <a:cs typeface="Times New Roman" panose="02020603050405020304" pitchFamily="18" charset="0"/>
              </a:rPr>
              <a:t>: Cancer and Arthritis have nearly identical frequencies across all care types (Cancer: 1561, 1561, 1485; Arthritis: 1562, 1573, 1551), suggesting a balanced distribution between planned and unplanned treatments.</a:t>
            </a:r>
          </a:p>
          <a:p>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46E8DB9-C589-7213-E239-D4F517BFE5BC}"/>
              </a:ext>
            </a:extLst>
          </p:cNvPr>
          <p:cNvPicPr>
            <a:picLocks noChangeAspect="1"/>
          </p:cNvPicPr>
          <p:nvPr/>
        </p:nvPicPr>
        <p:blipFill>
          <a:blip r:embed="rId2"/>
          <a:stretch>
            <a:fillRect/>
          </a:stretch>
        </p:blipFill>
        <p:spPr>
          <a:xfrm>
            <a:off x="99801" y="1877875"/>
            <a:ext cx="5588821" cy="3412529"/>
          </a:xfrm>
          <a:prstGeom prst="rect">
            <a:avLst/>
          </a:prstGeom>
        </p:spPr>
      </p:pic>
    </p:spTree>
    <p:extLst>
      <p:ext uri="{BB962C8B-B14F-4D97-AF65-F5344CB8AC3E}">
        <p14:creationId xmlns:p14="http://schemas.microsoft.com/office/powerpoint/2010/main" val="3195780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464FB-3E62-D600-EDA7-6A0EEE3D8F8E}"/>
              </a:ext>
            </a:extLst>
          </p:cNvPr>
          <p:cNvSpPr>
            <a:spLocks noGrp="1"/>
          </p:cNvSpPr>
          <p:nvPr>
            <p:ph type="title"/>
          </p:nvPr>
        </p:nvSpPr>
        <p:spPr>
          <a:xfrm>
            <a:off x="369277" y="675382"/>
            <a:ext cx="10984523" cy="802665"/>
          </a:xfrm>
        </p:spPr>
        <p:txBody>
          <a:bodyPr>
            <a:normAutofit/>
          </a:bodyPr>
          <a:lstStyle/>
          <a:p>
            <a:r>
              <a:rPr lang="en-IN" sz="3400" b="1" dirty="0">
                <a:solidFill>
                  <a:srgbClr val="FF0000"/>
                </a:solidFill>
                <a:latin typeface="Times New Roman" panose="02020603050405020304" pitchFamily="18" charset="0"/>
                <a:cs typeface="Times New Roman" panose="02020603050405020304" pitchFamily="18" charset="0"/>
              </a:rPr>
              <a:t>What is the highest rate of admission type ? </a:t>
            </a:r>
          </a:p>
        </p:txBody>
      </p:sp>
      <p:sp>
        <p:nvSpPr>
          <p:cNvPr id="3" name="Text Placeholder 2">
            <a:extLst>
              <a:ext uri="{FF2B5EF4-FFF2-40B4-BE49-F238E27FC236}">
                <a16:creationId xmlns:a16="http://schemas.microsoft.com/office/drawing/2014/main" id="{864060A3-4214-E2C3-1BF3-01C95A19F702}"/>
              </a:ext>
            </a:extLst>
          </p:cNvPr>
          <p:cNvSpPr>
            <a:spLocks noGrp="1"/>
          </p:cNvSpPr>
          <p:nvPr>
            <p:ph type="body" idx="1"/>
          </p:nvPr>
        </p:nvSpPr>
        <p:spPr>
          <a:xfrm>
            <a:off x="369277" y="1825625"/>
            <a:ext cx="5635869" cy="4351338"/>
          </a:xfrm>
        </p:spPr>
        <p:txBody>
          <a:bodyPr>
            <a:normAutofit/>
          </a:bodyPr>
          <a:lstStyle/>
          <a:p>
            <a:r>
              <a:rPr lang="en-IN" dirty="0">
                <a:latin typeface="Times New Roman" panose="02020603050405020304" pitchFamily="18" charset="0"/>
                <a:cs typeface="Times New Roman" panose="02020603050405020304" pitchFamily="18" charset="0"/>
              </a:rPr>
              <a:t>A</a:t>
            </a:r>
            <a:r>
              <a:rPr lang="en-US" dirty="0" err="1">
                <a:latin typeface="Times New Roman" panose="02020603050405020304" pitchFamily="18" charset="0"/>
                <a:cs typeface="Times New Roman" panose="02020603050405020304" pitchFamily="18" charset="0"/>
              </a:rPr>
              <a:t>dmission</a:t>
            </a:r>
            <a:r>
              <a:rPr lang="en-US" dirty="0">
                <a:latin typeface="Times New Roman" panose="02020603050405020304" pitchFamily="18" charset="0"/>
                <a:cs typeface="Times New Roman" panose="02020603050405020304" pitchFamily="18" charset="0"/>
              </a:rPr>
              <a:t> are almost evenly distributed: Elective (33.61%), Urgent (33.47%), Emergency (32.92%).</a:t>
            </a:r>
          </a:p>
          <a:p>
            <a:r>
              <a:rPr lang="en-US" dirty="0">
                <a:latin typeface="Times New Roman" panose="02020603050405020304" pitchFamily="18" charset="0"/>
                <a:cs typeface="Times New Roman" panose="02020603050405020304" pitchFamily="18" charset="0"/>
              </a:rPr>
              <a:t>Counts: Elective (18.66K), Urgent (18.58K), Emergency (18.27K).</a:t>
            </a:r>
          </a:p>
          <a:p>
            <a:r>
              <a:rPr lang="en-US" dirty="0">
                <a:latin typeface="Times New Roman" panose="02020603050405020304" pitchFamily="18" charset="0"/>
                <a:cs typeface="Times New Roman" panose="02020603050405020304" pitchFamily="18" charset="0"/>
              </a:rPr>
              <a:t>Hence, Elective is having the highest rate of admission.</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C3011E6-BC79-334C-55D9-DFBE4608C9A1}"/>
              </a:ext>
            </a:extLst>
          </p:cNvPr>
          <p:cNvPicPr>
            <a:picLocks noChangeAspect="1"/>
          </p:cNvPicPr>
          <p:nvPr/>
        </p:nvPicPr>
        <p:blipFill>
          <a:blip r:embed="rId2"/>
          <a:stretch>
            <a:fillRect/>
          </a:stretch>
        </p:blipFill>
        <p:spPr>
          <a:xfrm>
            <a:off x="6096000" y="1987061"/>
            <a:ext cx="5969694" cy="3794224"/>
          </a:xfrm>
          <a:prstGeom prst="rect">
            <a:avLst/>
          </a:prstGeom>
        </p:spPr>
      </p:pic>
    </p:spTree>
    <p:extLst>
      <p:ext uri="{BB962C8B-B14F-4D97-AF65-F5344CB8AC3E}">
        <p14:creationId xmlns:p14="http://schemas.microsoft.com/office/powerpoint/2010/main" val="1095531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CE07A-8FEE-6998-9D11-241A4BFE251D}"/>
              </a:ext>
            </a:extLst>
          </p:cNvPr>
          <p:cNvSpPr>
            <a:spLocks noGrp="1"/>
          </p:cNvSpPr>
          <p:nvPr>
            <p:ph type="title"/>
          </p:nvPr>
        </p:nvSpPr>
        <p:spPr>
          <a:xfrm>
            <a:off x="290145" y="365125"/>
            <a:ext cx="11676185" cy="1325563"/>
          </a:xfrm>
        </p:spPr>
        <p:txBody>
          <a:bodyPr>
            <a:noAutofit/>
          </a:bodyPr>
          <a:lstStyle/>
          <a:p>
            <a:r>
              <a:rPr lang="en-IN" sz="3400" b="1" dirty="0">
                <a:solidFill>
                  <a:srgbClr val="FF0000"/>
                </a:solidFill>
                <a:latin typeface="Times New Roman" panose="02020603050405020304" pitchFamily="18" charset="0"/>
                <a:cs typeface="Times New Roman" panose="02020603050405020304" pitchFamily="18" charset="0"/>
              </a:rPr>
              <a:t>What is the Total Revenue based on the medical conditions by total patients and average length of stay ?</a:t>
            </a:r>
          </a:p>
        </p:txBody>
      </p:sp>
      <p:sp>
        <p:nvSpPr>
          <p:cNvPr id="3" name="Text Placeholder 2">
            <a:extLst>
              <a:ext uri="{FF2B5EF4-FFF2-40B4-BE49-F238E27FC236}">
                <a16:creationId xmlns:a16="http://schemas.microsoft.com/office/drawing/2014/main" id="{F8376A27-020D-08ED-6105-B8EAE4122972}"/>
              </a:ext>
            </a:extLst>
          </p:cNvPr>
          <p:cNvSpPr>
            <a:spLocks noGrp="1"/>
          </p:cNvSpPr>
          <p:nvPr>
            <p:ph type="body" idx="1"/>
          </p:nvPr>
        </p:nvSpPr>
        <p:spPr>
          <a:xfrm>
            <a:off x="6409593" y="1825625"/>
            <a:ext cx="5556738" cy="4351338"/>
          </a:xfrm>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The patient load is remarkably balanced across all six conditions, with each having a similar patient count (approx. 4,600 patients).</a:t>
            </a:r>
          </a:p>
          <a:p>
            <a:r>
              <a:rPr lang="en-US" dirty="0">
                <a:latin typeface="Times New Roman" panose="02020603050405020304" pitchFamily="18" charset="0"/>
                <a:cs typeface="Times New Roman" panose="02020603050405020304" pitchFamily="18" charset="0"/>
              </a:rPr>
              <a:t>Average Length of Stay is highly consistent, remaining at ~15.5 days for every condition, which suggests standardized care or billing protocols.</a:t>
            </a:r>
          </a:p>
          <a:p>
            <a:r>
              <a:rPr lang="en-US" dirty="0">
                <a:latin typeface="Times New Roman" panose="02020603050405020304" pitchFamily="18" charset="0"/>
                <a:cs typeface="Times New Roman" panose="02020603050405020304" pitchFamily="18" charset="0"/>
              </a:rPr>
              <a:t>Obesity is the highest revenue-generating condition (11.95 Cr), while Asthma (11.55 Cr) is the lowest, even with similar patient numbers and stay durations.</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B81BD36-F535-6E04-D95F-68CA94C6E417}"/>
              </a:ext>
            </a:extLst>
          </p:cNvPr>
          <p:cNvPicPr>
            <a:picLocks noChangeAspect="1"/>
          </p:cNvPicPr>
          <p:nvPr/>
        </p:nvPicPr>
        <p:blipFill>
          <a:blip r:embed="rId2"/>
          <a:stretch>
            <a:fillRect/>
          </a:stretch>
        </p:blipFill>
        <p:spPr>
          <a:xfrm>
            <a:off x="89562" y="2206870"/>
            <a:ext cx="6320030" cy="3683976"/>
          </a:xfrm>
          <a:prstGeom prst="rect">
            <a:avLst/>
          </a:prstGeom>
        </p:spPr>
      </p:pic>
    </p:spTree>
    <p:extLst>
      <p:ext uri="{BB962C8B-B14F-4D97-AF65-F5344CB8AC3E}">
        <p14:creationId xmlns:p14="http://schemas.microsoft.com/office/powerpoint/2010/main" val="2835127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48BAF-6509-992D-1A03-565159AD1C6E}"/>
              </a:ext>
            </a:extLst>
          </p:cNvPr>
          <p:cNvSpPr>
            <a:spLocks noGrp="1"/>
          </p:cNvSpPr>
          <p:nvPr>
            <p:ph type="title"/>
          </p:nvPr>
        </p:nvSpPr>
        <p:spPr>
          <a:xfrm>
            <a:off x="196361" y="237392"/>
            <a:ext cx="10515600" cy="685800"/>
          </a:xfrm>
        </p:spPr>
        <p:txBody>
          <a:bodyPr>
            <a:normAutofit/>
          </a:bodyPr>
          <a:lstStyle/>
          <a:p>
            <a:r>
              <a:rPr lang="en-IN" sz="3400" b="1" dirty="0">
                <a:solidFill>
                  <a:srgbClr val="FF0000"/>
                </a:solidFill>
                <a:latin typeface="Times New Roman" panose="02020603050405020304" pitchFamily="18" charset="0"/>
                <a:cs typeface="Times New Roman" panose="02020603050405020304" pitchFamily="18" charset="0"/>
              </a:rPr>
              <a:t>What is the total revenue generated monthly ?</a:t>
            </a:r>
          </a:p>
        </p:txBody>
      </p:sp>
      <p:sp>
        <p:nvSpPr>
          <p:cNvPr id="3" name="Text Placeholder 2">
            <a:extLst>
              <a:ext uri="{FF2B5EF4-FFF2-40B4-BE49-F238E27FC236}">
                <a16:creationId xmlns:a16="http://schemas.microsoft.com/office/drawing/2014/main" id="{429C46CA-8C57-79D5-5FB6-5A14FC83EB58}"/>
              </a:ext>
            </a:extLst>
          </p:cNvPr>
          <p:cNvSpPr>
            <a:spLocks noGrp="1"/>
          </p:cNvSpPr>
          <p:nvPr>
            <p:ph type="body" idx="1"/>
          </p:nvPr>
        </p:nvSpPr>
        <p:spPr>
          <a:xfrm>
            <a:off x="650631" y="3815862"/>
            <a:ext cx="11541369" cy="2361100"/>
          </a:xfrm>
        </p:spPr>
        <p:txBody>
          <a:bodyPr>
            <a:noAutofit/>
          </a:bodyPr>
          <a:lstStyle/>
          <a:p>
            <a:r>
              <a:rPr lang="en-US" sz="2400" dirty="0">
                <a:latin typeface="Times New Roman" panose="02020603050405020304" pitchFamily="18" charset="0"/>
                <a:cs typeface="Times New Roman" panose="02020603050405020304" pitchFamily="18" charset="0"/>
              </a:rPr>
              <a:t>Peak Revenue: Revenue is highest at the start of the fiscal year, peaking in July ($122.8M) and August ($122.7M).</a:t>
            </a:r>
          </a:p>
          <a:p>
            <a:r>
              <a:rPr lang="en-US" sz="2400" dirty="0">
                <a:latin typeface="Times New Roman" panose="02020603050405020304" pitchFamily="18" charset="0"/>
                <a:cs typeface="Times New Roman" panose="02020603050405020304" pitchFamily="18" charset="0"/>
              </a:rPr>
              <a:t>Steady Decline: Revenue shows a clear, consistent downward trend throughout the year after the peak.</a:t>
            </a:r>
          </a:p>
          <a:p>
            <a:r>
              <a:rPr lang="en-US" sz="2400" dirty="0">
                <a:latin typeface="Times New Roman" panose="02020603050405020304" pitchFamily="18" charset="0"/>
                <a:cs typeface="Times New Roman" panose="02020603050405020304" pitchFamily="18" charset="0"/>
              </a:rPr>
              <a:t>Lowest Point: The revenue hits its lowest point in February ($107.9M), representing a 15% drop from the July peak.</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6469635-03D9-01D1-CCDA-C37CB487C75D}"/>
              </a:ext>
            </a:extLst>
          </p:cNvPr>
          <p:cNvPicPr>
            <a:picLocks noChangeAspect="1"/>
          </p:cNvPicPr>
          <p:nvPr/>
        </p:nvPicPr>
        <p:blipFill>
          <a:blip r:embed="rId2"/>
          <a:stretch>
            <a:fillRect/>
          </a:stretch>
        </p:blipFill>
        <p:spPr>
          <a:xfrm>
            <a:off x="1589259" y="923192"/>
            <a:ext cx="8767297" cy="2892670"/>
          </a:xfrm>
          <a:prstGeom prst="rect">
            <a:avLst/>
          </a:prstGeom>
        </p:spPr>
      </p:pic>
    </p:spTree>
    <p:extLst>
      <p:ext uri="{BB962C8B-B14F-4D97-AF65-F5344CB8AC3E}">
        <p14:creationId xmlns:p14="http://schemas.microsoft.com/office/powerpoint/2010/main" val="2689091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2E7E0-CAB2-1F19-8412-2CB1B25C99BA}"/>
              </a:ext>
            </a:extLst>
          </p:cNvPr>
          <p:cNvSpPr>
            <a:spLocks noGrp="1"/>
          </p:cNvSpPr>
          <p:nvPr>
            <p:ph type="title"/>
          </p:nvPr>
        </p:nvSpPr>
        <p:spPr>
          <a:xfrm>
            <a:off x="269631" y="308400"/>
            <a:ext cx="11781693" cy="1325563"/>
          </a:xfrm>
        </p:spPr>
        <p:txBody>
          <a:bodyPr>
            <a:normAutofit/>
          </a:bodyPr>
          <a:lstStyle/>
          <a:p>
            <a:r>
              <a:rPr lang="en-IN" sz="3400" b="1" dirty="0">
                <a:solidFill>
                  <a:srgbClr val="FF0000"/>
                </a:solidFill>
                <a:latin typeface="Times New Roman" panose="02020603050405020304" pitchFamily="18" charset="0"/>
                <a:cs typeface="Times New Roman" panose="02020603050405020304" pitchFamily="18" charset="0"/>
              </a:rPr>
              <a:t>Which company provide the highest number of insurance to the patients ?</a:t>
            </a:r>
          </a:p>
        </p:txBody>
      </p:sp>
      <p:sp>
        <p:nvSpPr>
          <p:cNvPr id="3" name="Text Placeholder 2">
            <a:extLst>
              <a:ext uri="{FF2B5EF4-FFF2-40B4-BE49-F238E27FC236}">
                <a16:creationId xmlns:a16="http://schemas.microsoft.com/office/drawing/2014/main" id="{BFFF47D1-E251-D33C-1B3C-3868083983DC}"/>
              </a:ext>
            </a:extLst>
          </p:cNvPr>
          <p:cNvSpPr>
            <a:spLocks noGrp="1"/>
          </p:cNvSpPr>
          <p:nvPr>
            <p:ph type="body" idx="1"/>
          </p:nvPr>
        </p:nvSpPr>
        <p:spPr>
          <a:xfrm>
            <a:off x="269631" y="1818602"/>
            <a:ext cx="6904893" cy="4833146"/>
          </a:xfrm>
        </p:spPr>
        <p:txBody>
          <a:bodyPr>
            <a:noAutofit/>
          </a:bodyPr>
          <a:lstStyle/>
          <a:p>
            <a:r>
              <a:rPr lang="en-US" sz="2400" b="1" dirty="0">
                <a:latin typeface="Times New Roman" panose="02020603050405020304" pitchFamily="18" charset="0"/>
                <a:cs typeface="Times New Roman" panose="02020603050405020304" pitchFamily="18" charset="0"/>
              </a:rPr>
              <a:t>Equal Patient Split: </a:t>
            </a:r>
            <a:r>
              <a:rPr lang="en-US" sz="2400" dirty="0">
                <a:latin typeface="Times New Roman" panose="02020603050405020304" pitchFamily="18" charset="0"/>
                <a:cs typeface="Times New Roman" panose="02020603050405020304" pitchFamily="18" charset="0"/>
              </a:rPr>
              <a:t>The patient base is highly diversified and equally split among the five major insurance providers.</a:t>
            </a:r>
          </a:p>
          <a:p>
            <a:r>
              <a:rPr lang="en-US" sz="2400" b="1" dirty="0">
                <a:latin typeface="Times New Roman" panose="02020603050405020304" pitchFamily="18" charset="0"/>
                <a:cs typeface="Times New Roman" panose="02020603050405020304" pitchFamily="18" charset="0"/>
              </a:rPr>
              <a:t>No Dominance: </a:t>
            </a:r>
            <a:r>
              <a:rPr lang="en-US" sz="2400" dirty="0">
                <a:latin typeface="Times New Roman" panose="02020603050405020304" pitchFamily="18" charset="0"/>
                <a:cs typeface="Times New Roman" panose="02020603050405020304" pitchFamily="18" charset="0"/>
              </a:rPr>
              <a:t>No single provider dominates the market; each carrier accounts for approximately 19.66% to 20.27% of the total patients (or around 11.0K to 11.2K patients each).</a:t>
            </a:r>
          </a:p>
          <a:p>
            <a:r>
              <a:rPr lang="en-US" sz="2400" b="1" dirty="0">
                <a:latin typeface="Times New Roman" panose="02020603050405020304" pitchFamily="18" charset="0"/>
                <a:cs typeface="Times New Roman" panose="02020603050405020304" pitchFamily="18" charset="0"/>
              </a:rPr>
              <a:t>Operational Insight: </a:t>
            </a:r>
            <a:r>
              <a:rPr lang="en-US" sz="2400" dirty="0">
                <a:latin typeface="Times New Roman" panose="02020603050405020304" pitchFamily="18" charset="0"/>
                <a:cs typeface="Times New Roman" panose="02020603050405020304" pitchFamily="18" charset="0"/>
              </a:rPr>
              <a:t>Because the patient volume is so balanced, the hospital must maintain expert-level compliance and billing processes for all five carriers (Cigna, Medicare, UnitedHealthcare, Blue Cross, and Aetna) to ensure consistent reimbursement.</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FB4878A-6A1D-6A8D-0B45-971EEA119543}"/>
              </a:ext>
            </a:extLst>
          </p:cNvPr>
          <p:cNvPicPr>
            <a:picLocks noChangeAspect="1"/>
          </p:cNvPicPr>
          <p:nvPr/>
        </p:nvPicPr>
        <p:blipFill>
          <a:blip r:embed="rId2"/>
          <a:stretch>
            <a:fillRect/>
          </a:stretch>
        </p:blipFill>
        <p:spPr>
          <a:xfrm>
            <a:off x="7314173" y="2215111"/>
            <a:ext cx="4608196" cy="2887941"/>
          </a:xfrm>
          <a:prstGeom prst="rect">
            <a:avLst/>
          </a:prstGeom>
        </p:spPr>
      </p:pic>
    </p:spTree>
    <p:extLst>
      <p:ext uri="{BB962C8B-B14F-4D97-AF65-F5344CB8AC3E}">
        <p14:creationId xmlns:p14="http://schemas.microsoft.com/office/powerpoint/2010/main" val="3559010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272F0-81B0-1CA0-3F57-180461ADF25D}"/>
              </a:ext>
            </a:extLst>
          </p:cNvPr>
          <p:cNvSpPr>
            <a:spLocks noGrp="1"/>
          </p:cNvSpPr>
          <p:nvPr>
            <p:ph type="title"/>
          </p:nvPr>
        </p:nvSpPr>
        <p:spPr>
          <a:xfrm>
            <a:off x="838200" y="312371"/>
            <a:ext cx="10515600" cy="1325563"/>
          </a:xfrm>
        </p:spPr>
        <p:txBody>
          <a:bodyPr/>
          <a:lstStyle/>
          <a:p>
            <a:r>
              <a:rPr lang="en-IN" b="1" dirty="0">
                <a:solidFill>
                  <a:srgbClr val="FF0000"/>
                </a:solidFill>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DFACE85B-75C1-2E5D-7ABC-D3E1A95FCEFD}"/>
              </a:ext>
            </a:extLst>
          </p:cNvPr>
          <p:cNvSpPr>
            <a:spLocks noGrp="1"/>
          </p:cNvSpPr>
          <p:nvPr>
            <p:ph type="body" idx="1"/>
          </p:nvPr>
        </p:nvSpPr>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Revenue Cycle Risk Identified: </a:t>
            </a:r>
            <a:r>
              <a:rPr lang="en-US" dirty="0">
                <a:latin typeface="Times New Roman" panose="02020603050405020304" pitchFamily="18" charset="0"/>
                <a:cs typeface="Times New Roman" panose="02020603050405020304" pitchFamily="18" charset="0"/>
              </a:rPr>
              <a:t>We found a major trend where revenue declines consistently by 15% from the summer peak (July/August) to the winter low (February), requiring immediate attention for financial forecasting.</a:t>
            </a:r>
          </a:p>
          <a:p>
            <a:r>
              <a:rPr lang="en-US" b="1" dirty="0">
                <a:latin typeface="Times New Roman" panose="02020603050405020304" pitchFamily="18" charset="0"/>
                <a:cs typeface="Times New Roman" panose="02020603050405020304" pitchFamily="18" charset="0"/>
              </a:rPr>
              <a:t>Operational Balance Confirmed: </a:t>
            </a:r>
            <a:r>
              <a:rPr lang="en-US" dirty="0">
                <a:latin typeface="Times New Roman" panose="02020603050405020304" pitchFamily="18" charset="0"/>
                <a:cs typeface="Times New Roman" panose="02020603050405020304" pitchFamily="18" charset="0"/>
              </a:rPr>
              <a:t>The hospital demonstrates high stability in core processes, evidenced by the equal patient split across all five major insurance providers and the highly consistent Average Length of Stay (15.5 days) across all medical conditions.</a:t>
            </a:r>
          </a:p>
          <a:p>
            <a:r>
              <a:rPr lang="en-US" b="1" dirty="0">
                <a:latin typeface="Times New Roman" panose="02020603050405020304" pitchFamily="18" charset="0"/>
                <a:cs typeface="Times New Roman" panose="02020603050405020304" pitchFamily="18" charset="0"/>
              </a:rPr>
              <a:t>Data-Driven Focus Areas: </a:t>
            </a:r>
            <a:r>
              <a:rPr lang="en-US" dirty="0">
                <a:latin typeface="Times New Roman" panose="02020603050405020304" pitchFamily="18" charset="0"/>
                <a:cs typeface="Times New Roman" panose="02020603050405020304" pitchFamily="18" charset="0"/>
              </a:rPr>
              <a:t>The dashboard provides specific areas for resource optimization, such as scheduling to match the predictable August admission peak and investigating why Asthma generates the lowest revenue despite comparable patient volumes.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2417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165469" y="2372946"/>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6500" b="0" i="0" u="none" strike="noStrike" cap="none" dirty="0">
                <a:solidFill>
                  <a:srgbClr val="C00000"/>
                </a:solidFill>
                <a:latin typeface="Libre Baskerville"/>
                <a:ea typeface="Libre Baskerville"/>
                <a:cs typeface="Libre Baskerville"/>
                <a:sym typeface="Libre Baskerville"/>
              </a:rPr>
              <a:t>THANK YOU</a:t>
            </a:r>
            <a:endParaRPr sz="65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437</TotalTime>
  <Words>1149</Words>
  <Application>Microsoft Office PowerPoint</Application>
  <PresentationFormat>Widescreen</PresentationFormat>
  <Paragraphs>93</Paragraphs>
  <Slides>18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Libre Baskerville</vt:lpstr>
      <vt:lpstr>Times New Roman</vt:lpstr>
      <vt:lpstr>Calibri</vt:lpstr>
      <vt:lpstr>Arial</vt:lpstr>
      <vt:lpstr>Lato Black</vt:lpstr>
      <vt:lpstr>Office Theme</vt:lpstr>
      <vt:lpstr>PowerPoint Presentation</vt:lpstr>
      <vt:lpstr>PowerPoint Presentation</vt:lpstr>
      <vt:lpstr>INTRODUCTION</vt:lpstr>
      <vt:lpstr>PROBLEM STATEMENT</vt:lpstr>
      <vt:lpstr>OBJECTIVE</vt:lpstr>
      <vt:lpstr>TOOLS AND APPROACH</vt:lpstr>
      <vt:lpstr>TABLE INFORMATION</vt:lpstr>
      <vt:lpstr>DASHBOARD OVERVIEW</vt:lpstr>
      <vt:lpstr>DATA VISUALIZATION</vt:lpstr>
      <vt:lpstr>PowerPoint Presentation</vt:lpstr>
      <vt:lpstr>Total number of patient admitted by month</vt:lpstr>
      <vt:lpstr>What are the Top medical condition based on their admission type ? </vt:lpstr>
      <vt:lpstr>What is the highest rate of admission type ? </vt:lpstr>
      <vt:lpstr>What is the Total Revenue based on the medical conditions by total patients and average length of stay ?</vt:lpstr>
      <vt:lpstr>What is the total revenue generated monthly ?</vt:lpstr>
      <vt:lpstr>Which company provide the highest number of insurance to the patients ?</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Sourav Sahu</cp:lastModifiedBy>
  <cp:revision>50</cp:revision>
  <dcterms:created xsi:type="dcterms:W3CDTF">2021-02-16T05:19:01Z</dcterms:created>
  <dcterms:modified xsi:type="dcterms:W3CDTF">2025-11-08T07:32:08Z</dcterms:modified>
</cp:coreProperties>
</file>